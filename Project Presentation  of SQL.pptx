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legreya Sans SC" charset="1" panose="00000500000000000000"/>
      <p:regular r:id="rId19"/>
    </p:embeddedFont>
    <p:embeddedFont>
      <p:font typeface="Canva Sans" charset="1" panose="020B0503030501040103"/>
      <p:regular r:id="rId20"/>
    </p:embeddedFont>
    <p:embeddedFont>
      <p:font typeface="Fira Sans" charset="1" panose="020B0503050000020004"/>
      <p:regular r:id="rId21"/>
    </p:embeddedFont>
    <p:embeddedFont>
      <p:font typeface="Fira Sans Bold" charset="1" panose="020B0803050000020004"/>
      <p:regular r:id="rId22"/>
    </p:embeddedFont>
    <p:embeddedFont>
      <p:font typeface="Canva Sans Bold" charset="1" panose="020B0803030501040103"/>
      <p:regular r:id="rId23"/>
    </p:embeddedFont>
    <p:embeddedFont>
      <p:font typeface="Alegreya Sans SC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-476399" y="2173146"/>
            <a:ext cx="5249238" cy="6896447"/>
          </a:xfrm>
          <a:custGeom>
            <a:avLst/>
            <a:gdLst/>
            <a:ahLst/>
            <a:cxnLst/>
            <a:rect r="r" b="b" t="t" l="l"/>
            <a:pathLst>
              <a:path h="6896447" w="5249238">
                <a:moveTo>
                  <a:pt x="0" y="0"/>
                </a:moveTo>
                <a:lnTo>
                  <a:pt x="5249238" y="0"/>
                </a:lnTo>
                <a:lnTo>
                  <a:pt x="5249238" y="6896447"/>
                </a:lnTo>
                <a:lnTo>
                  <a:pt x="0" y="689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-10800000">
            <a:off x="-286818" y="1217407"/>
            <a:ext cx="5208407" cy="6842803"/>
          </a:xfrm>
          <a:custGeom>
            <a:avLst/>
            <a:gdLst/>
            <a:ahLst/>
            <a:cxnLst/>
            <a:rect r="r" b="b" t="t" l="l"/>
            <a:pathLst>
              <a:path h="6842803" w="5208407">
                <a:moveTo>
                  <a:pt x="0" y="0"/>
                </a:moveTo>
                <a:lnTo>
                  <a:pt x="5208407" y="0"/>
                </a:lnTo>
                <a:lnTo>
                  <a:pt x="5208407" y="6842803"/>
                </a:lnTo>
                <a:lnTo>
                  <a:pt x="0" y="684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4921589" y="3557484"/>
            <a:ext cx="13366411" cy="3043429"/>
          </a:xfrm>
          <a:custGeom>
            <a:avLst/>
            <a:gdLst/>
            <a:ahLst/>
            <a:cxnLst/>
            <a:rect r="r" b="b" t="t" l="l"/>
            <a:pathLst>
              <a:path h="3043429" w="13366411">
                <a:moveTo>
                  <a:pt x="0" y="0"/>
                </a:moveTo>
                <a:lnTo>
                  <a:pt x="13366411" y="0"/>
                </a:lnTo>
                <a:lnTo>
                  <a:pt x="13366411" y="3043429"/>
                </a:lnTo>
                <a:lnTo>
                  <a:pt x="0" y="3043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6072780" y="2096183"/>
            <a:ext cx="6554923" cy="4114800"/>
          </a:xfrm>
          <a:custGeom>
            <a:avLst/>
            <a:gdLst/>
            <a:ahLst/>
            <a:cxnLst/>
            <a:rect r="r" b="b" t="t" l="l"/>
            <a:pathLst>
              <a:path h="4114800" w="6554923">
                <a:moveTo>
                  <a:pt x="0" y="0"/>
                </a:moveTo>
                <a:lnTo>
                  <a:pt x="6554923" y="0"/>
                </a:lnTo>
                <a:lnTo>
                  <a:pt x="6554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780228" y="-659099"/>
            <a:ext cx="11605199" cy="11605199"/>
          </a:xfrm>
          <a:custGeom>
            <a:avLst/>
            <a:gdLst/>
            <a:ahLst/>
            <a:cxnLst/>
            <a:rect r="r" b="b" t="t" l="l"/>
            <a:pathLst>
              <a:path h="11605199" w="11605199">
                <a:moveTo>
                  <a:pt x="0" y="0"/>
                </a:moveTo>
                <a:lnTo>
                  <a:pt x="11605198" y="0"/>
                </a:lnTo>
                <a:lnTo>
                  <a:pt x="11605198" y="11605198"/>
                </a:lnTo>
                <a:lnTo>
                  <a:pt x="0" y="116051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67129" y="2971056"/>
            <a:ext cx="10774665" cy="184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62"/>
              </a:lnSpc>
            </a:pPr>
            <a:r>
              <a:rPr lang="en-US" sz="12041" spc="3227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customers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70162" y="5124450"/>
            <a:ext cx="9406672" cy="182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85"/>
              </a:lnSpc>
            </a:pPr>
            <a:r>
              <a:rPr lang="en-US" sz="11866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BEHAVIOUR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7FDF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5106519" y="-947083"/>
            <a:ext cx="8415386" cy="8415386"/>
          </a:xfrm>
          <a:custGeom>
            <a:avLst/>
            <a:gdLst/>
            <a:ahLst/>
            <a:cxnLst/>
            <a:rect r="r" b="b" t="t" l="l"/>
            <a:pathLst>
              <a:path h="8415386" w="8415386">
                <a:moveTo>
                  <a:pt x="0" y="0"/>
                </a:moveTo>
                <a:lnTo>
                  <a:pt x="8415386" y="0"/>
                </a:lnTo>
                <a:lnTo>
                  <a:pt x="8415386" y="8415386"/>
                </a:lnTo>
                <a:lnTo>
                  <a:pt x="0" y="8415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29048" y="3320682"/>
            <a:ext cx="15084211" cy="5026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29"/>
              </a:lnSpc>
            </a:pPr>
          </a:p>
          <a:p>
            <a:pPr algn="just">
              <a:lnSpc>
                <a:spcPts val="9509"/>
              </a:lnSpc>
            </a:pPr>
            <a:r>
              <a:rPr lang="en-US" sz="6792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    </a:t>
            </a:r>
            <a:r>
              <a:rPr lang="en-US" sz="6792" b="true">
                <a:solidFill>
                  <a:srgbClr val="D7FD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Dataset:</a:t>
            </a:r>
            <a:r>
              <a:rPr lang="en-US" sz="6792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 Customers Table</a:t>
            </a:r>
          </a:p>
          <a:p>
            <a:pPr algn="just">
              <a:lnSpc>
                <a:spcPts val="9089"/>
              </a:lnSpc>
            </a:pPr>
            <a:r>
              <a:rPr lang="en-US" sz="6492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    </a:t>
            </a:r>
            <a:r>
              <a:rPr lang="en-US" sz="6492" b="true">
                <a:solidFill>
                  <a:srgbClr val="D7FD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Author:</a:t>
            </a:r>
            <a:r>
              <a:rPr lang="en-US" sz="6492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 Gatwech Gatmuon Mut</a:t>
            </a:r>
          </a:p>
          <a:p>
            <a:pPr algn="just">
              <a:lnSpc>
                <a:spcPts val="8529"/>
              </a:lnSpc>
            </a:pPr>
            <a:r>
              <a:rPr lang="en-US" sz="6092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    </a:t>
            </a:r>
            <a:r>
              <a:rPr lang="en-US" b="true" sz="6092">
                <a:solidFill>
                  <a:srgbClr val="D7FD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Objective</a:t>
            </a:r>
            <a:r>
              <a:rPr lang="en-US" sz="6092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: Analyze customer behaviors </a:t>
            </a:r>
          </a:p>
        </p:txBody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-10800000">
            <a:off x="853604" y="472515"/>
            <a:ext cx="2952452" cy="3878930"/>
          </a:xfrm>
          <a:custGeom>
            <a:avLst/>
            <a:gdLst/>
            <a:ahLst/>
            <a:cxnLst/>
            <a:rect r="r" b="b" t="t" l="l"/>
            <a:pathLst>
              <a:path h="3878930" w="2952452">
                <a:moveTo>
                  <a:pt x="0" y="0"/>
                </a:moveTo>
                <a:lnTo>
                  <a:pt x="2952453" y="0"/>
                </a:lnTo>
                <a:lnTo>
                  <a:pt x="2952453" y="3878931"/>
                </a:lnTo>
                <a:lnTo>
                  <a:pt x="0" y="3878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-4609329" y="3260610"/>
            <a:ext cx="8415386" cy="8415386"/>
          </a:xfrm>
          <a:custGeom>
            <a:avLst/>
            <a:gdLst/>
            <a:ahLst/>
            <a:cxnLst/>
            <a:rect r="r" b="b" t="t" l="l"/>
            <a:pathLst>
              <a:path h="8415386" w="8415386">
                <a:moveTo>
                  <a:pt x="0" y="0"/>
                </a:moveTo>
                <a:lnTo>
                  <a:pt x="8415386" y="0"/>
                </a:lnTo>
                <a:lnTo>
                  <a:pt x="8415386" y="8415386"/>
                </a:lnTo>
                <a:lnTo>
                  <a:pt x="0" y="8415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-10800000">
            <a:off x="0" y="-59259"/>
            <a:ext cx="2952452" cy="3878930"/>
          </a:xfrm>
          <a:custGeom>
            <a:avLst/>
            <a:gdLst/>
            <a:ahLst/>
            <a:cxnLst/>
            <a:rect r="r" b="b" t="t" l="l"/>
            <a:pathLst>
              <a:path h="3878930" w="2952452">
                <a:moveTo>
                  <a:pt x="2952452" y="3878931"/>
                </a:moveTo>
                <a:lnTo>
                  <a:pt x="0" y="3878931"/>
                </a:lnTo>
                <a:lnTo>
                  <a:pt x="0" y="0"/>
                </a:lnTo>
                <a:lnTo>
                  <a:pt x="2952452" y="0"/>
                </a:lnTo>
                <a:lnTo>
                  <a:pt x="2952452" y="387893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6000013" y="8641094"/>
            <a:ext cx="1398739" cy="1837662"/>
          </a:xfrm>
          <a:custGeom>
            <a:avLst/>
            <a:gdLst/>
            <a:ahLst/>
            <a:cxnLst/>
            <a:rect r="r" b="b" t="t" l="l"/>
            <a:pathLst>
              <a:path h="1837662" w="1398739">
                <a:moveTo>
                  <a:pt x="0" y="0"/>
                </a:moveTo>
                <a:lnTo>
                  <a:pt x="1398739" y="0"/>
                </a:lnTo>
                <a:lnTo>
                  <a:pt x="1398739" y="1837662"/>
                </a:lnTo>
                <a:lnTo>
                  <a:pt x="0" y="18376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0">
            <a:off x="15335548" y="6408070"/>
            <a:ext cx="2952452" cy="3878930"/>
          </a:xfrm>
          <a:custGeom>
            <a:avLst/>
            <a:gdLst/>
            <a:ahLst/>
            <a:cxnLst/>
            <a:rect r="r" b="b" t="t" l="l"/>
            <a:pathLst>
              <a:path h="3878930" w="2952452">
                <a:moveTo>
                  <a:pt x="2952452" y="3878930"/>
                </a:moveTo>
                <a:lnTo>
                  <a:pt x="0" y="3878930"/>
                </a:lnTo>
                <a:lnTo>
                  <a:pt x="0" y="0"/>
                </a:lnTo>
                <a:lnTo>
                  <a:pt x="2952452" y="0"/>
                </a:lnTo>
                <a:lnTo>
                  <a:pt x="2952452" y="387893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7657822" y="1880207"/>
            <a:ext cx="11861284" cy="4621509"/>
            <a:chOff x="0" y="0"/>
            <a:chExt cx="15815045" cy="616201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2824886" y="1219200"/>
              <a:ext cx="11275558" cy="4027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079"/>
                </a:lnSpc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4530673"/>
              <a:ext cx="15815045" cy="1631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61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87656" y="2950675"/>
            <a:ext cx="533340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Tool:</a:t>
            </a:r>
            <a:r>
              <a:rPr lang="en-US" b="true" sz="9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SQL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84487" y="1245205"/>
            <a:ext cx="8719027" cy="140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b="true" sz="7354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Project Overview</a:t>
            </a:r>
          </a:p>
        </p:txBody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86558" y="3447199"/>
            <a:ext cx="16946416" cy="6564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2270" indent="-366135" lvl="1">
              <a:lnSpc>
                <a:spcPts val="4748"/>
              </a:lnSpc>
              <a:buFont typeface="Arial"/>
              <a:buChar char="•"/>
            </a:pPr>
            <a:r>
              <a:rPr lang="en-US" sz="339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This project analyze</a:t>
            </a:r>
            <a:r>
              <a:rPr lang="en-US" sz="339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 customer purchase behaviour using SQL</a:t>
            </a:r>
          </a:p>
          <a:p>
            <a:pPr algn="l" marL="732270" indent="-366135" lvl="1">
              <a:lnSpc>
                <a:spcPts val="4748"/>
              </a:lnSpc>
              <a:buFont typeface="Arial"/>
              <a:buChar char="•"/>
            </a:pPr>
            <a:r>
              <a:rPr lang="en-US" sz="339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Foc</a:t>
            </a:r>
            <a:r>
              <a:rPr lang="en-US" sz="339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uses on understand</a:t>
            </a:r>
            <a:r>
              <a:rPr lang="en-US" sz="339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ing how customers spend and interact with products</a:t>
            </a:r>
          </a:p>
          <a:p>
            <a:pPr algn="l" marL="732270" indent="-366135" lvl="1">
              <a:lnSpc>
                <a:spcPts val="4748"/>
              </a:lnSpc>
              <a:buFont typeface="Arial"/>
              <a:buChar char="•"/>
            </a:pPr>
            <a:r>
              <a:rPr lang="en-US" sz="339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Helps businesses make better decisions using data</a:t>
            </a:r>
          </a:p>
          <a:p>
            <a:pPr algn="l" marL="732270" indent="-366135" lvl="1">
              <a:lnSpc>
                <a:spcPts val="4748"/>
              </a:lnSpc>
              <a:buFont typeface="Arial"/>
              <a:buChar char="•"/>
            </a:pPr>
            <a:r>
              <a:rPr lang="en-US" sz="339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Answers 10 key business questions</a:t>
            </a:r>
          </a:p>
          <a:p>
            <a:pPr algn="ctr">
              <a:lnSpc>
                <a:spcPts val="4748"/>
              </a:lnSpc>
            </a:pPr>
          </a:p>
          <a:p>
            <a:pPr algn="ctr">
              <a:lnSpc>
                <a:spcPts val="4748"/>
              </a:lnSpc>
            </a:pPr>
          </a:p>
          <a:p>
            <a:pPr algn="ctr">
              <a:lnSpc>
                <a:spcPts val="4748"/>
              </a:lnSpc>
            </a:pPr>
          </a:p>
          <a:p>
            <a:pPr algn="ctr">
              <a:lnSpc>
                <a:spcPts val="4748"/>
              </a:lnSpc>
            </a:pPr>
          </a:p>
          <a:p>
            <a:pPr algn="ctr">
              <a:lnSpc>
                <a:spcPts val="4748"/>
              </a:lnSpc>
            </a:pPr>
          </a:p>
          <a:p>
            <a:pPr algn="ctr">
              <a:lnSpc>
                <a:spcPts val="4748"/>
              </a:lnSpc>
            </a:pPr>
          </a:p>
          <a:p>
            <a:pPr algn="ctr">
              <a:lnSpc>
                <a:spcPts val="4748"/>
              </a:lnSpc>
              <a:spcBef>
                <a:spcPct val="0"/>
              </a:spcBef>
            </a:pPr>
          </a:p>
        </p:txBody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-10800000">
            <a:off x="1086558" y="6425555"/>
            <a:ext cx="2182042" cy="2866766"/>
          </a:xfrm>
          <a:custGeom>
            <a:avLst/>
            <a:gdLst/>
            <a:ahLst/>
            <a:cxnLst/>
            <a:rect r="r" b="b" t="t" l="l"/>
            <a:pathLst>
              <a:path h="2866766" w="2182042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0">
            <a:off x="239162" y="5259319"/>
            <a:ext cx="2182042" cy="2866766"/>
          </a:xfrm>
          <a:custGeom>
            <a:avLst/>
            <a:gdLst/>
            <a:ahLst/>
            <a:cxnLst/>
            <a:rect r="r" b="b" t="t" l="l"/>
            <a:pathLst>
              <a:path h="2866766" w="2182042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-10800000">
            <a:off x="15390121" y="1822870"/>
            <a:ext cx="2182042" cy="2866766"/>
          </a:xfrm>
          <a:custGeom>
            <a:avLst/>
            <a:gdLst/>
            <a:ahLst/>
            <a:cxnLst/>
            <a:rect r="r" b="b" t="t" l="l"/>
            <a:pathLst>
              <a:path h="2866766" w="2182042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0">
            <a:off x="14542725" y="656634"/>
            <a:ext cx="2182042" cy="2866766"/>
          </a:xfrm>
          <a:custGeom>
            <a:avLst/>
            <a:gdLst/>
            <a:ahLst/>
            <a:cxnLst/>
            <a:rect r="r" b="b" t="t" l="l"/>
            <a:pathLst>
              <a:path h="2866766" w="2182042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7FDF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28842" y="3365692"/>
            <a:ext cx="12219223" cy="4893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3204" indent="-331602" lvl="1">
              <a:lnSpc>
                <a:spcPts val="4300"/>
              </a:lnSpc>
              <a:buFont typeface="Arial"/>
              <a:buChar char="•"/>
            </a:pPr>
            <a:r>
              <a:rPr lang="en-US" sz="307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Gender</a:t>
            </a:r>
          </a:p>
          <a:p>
            <a:pPr algn="l" marL="663204" indent="-331602" lvl="1">
              <a:lnSpc>
                <a:spcPts val="4300"/>
              </a:lnSpc>
              <a:buFont typeface="Arial"/>
              <a:buChar char="•"/>
            </a:pPr>
            <a:r>
              <a:rPr lang="en-US" sz="307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Purchase amount</a:t>
            </a:r>
          </a:p>
          <a:p>
            <a:pPr algn="l" marL="663204" indent="-331602" lvl="1">
              <a:lnSpc>
                <a:spcPts val="4300"/>
              </a:lnSpc>
              <a:buFont typeface="Arial"/>
              <a:buChar char="•"/>
            </a:pPr>
            <a:r>
              <a:rPr lang="en-US" sz="307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Discounts</a:t>
            </a:r>
          </a:p>
          <a:p>
            <a:pPr algn="l" marL="663204" indent="-331602" lvl="1">
              <a:lnSpc>
                <a:spcPts val="4300"/>
              </a:lnSpc>
              <a:buFont typeface="Arial"/>
              <a:buChar char="•"/>
            </a:pPr>
            <a:r>
              <a:rPr lang="en-US" sz="307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Reviews</a:t>
            </a:r>
          </a:p>
          <a:p>
            <a:pPr algn="l" marL="663204" indent="-331602" lvl="1">
              <a:lnSpc>
                <a:spcPts val="4300"/>
              </a:lnSpc>
              <a:buFont typeface="Arial"/>
              <a:buChar char="•"/>
            </a:pPr>
            <a:r>
              <a:rPr lang="en-US" sz="307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Shipping type</a:t>
            </a:r>
          </a:p>
          <a:p>
            <a:pPr algn="l" marL="663204" indent="-331602" lvl="1">
              <a:lnSpc>
                <a:spcPts val="4300"/>
              </a:lnSpc>
              <a:buFont typeface="Arial"/>
              <a:buChar char="•"/>
            </a:pPr>
            <a:r>
              <a:rPr lang="en-US" sz="307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Subscription status</a:t>
            </a:r>
          </a:p>
          <a:p>
            <a:pPr algn="l" marL="663204" indent="-331602" lvl="1">
              <a:lnSpc>
                <a:spcPts val="4300"/>
              </a:lnSpc>
              <a:buFont typeface="Arial"/>
              <a:buChar char="•"/>
            </a:pPr>
            <a:r>
              <a:rPr lang="en-US" sz="307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Product category</a:t>
            </a:r>
          </a:p>
          <a:p>
            <a:pPr algn="l" marL="663204" indent="-331602" lvl="1">
              <a:lnSpc>
                <a:spcPts val="4300"/>
              </a:lnSpc>
              <a:buFont typeface="Arial"/>
              <a:buChar char="•"/>
            </a:pPr>
            <a:r>
              <a:rPr lang="en-US" sz="307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Age group</a:t>
            </a:r>
          </a:p>
          <a:p>
            <a:pPr algn="ctr">
              <a:lnSpc>
                <a:spcPts val="43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578304" y="1933098"/>
            <a:ext cx="10492454" cy="85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5"/>
              </a:lnSpc>
              <a:spcBef>
                <a:spcPct val="0"/>
              </a:spcBef>
            </a:pPr>
            <a:r>
              <a:rPr lang="en-US" b="true" sz="446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DATASET DESCRIPTION</a:t>
            </a:r>
          </a:p>
        </p:txBody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15548065" y="6970644"/>
            <a:ext cx="2300142" cy="3021926"/>
          </a:xfrm>
          <a:custGeom>
            <a:avLst/>
            <a:gdLst/>
            <a:ahLst/>
            <a:cxnLst/>
            <a:rect r="r" b="b" t="t" l="l"/>
            <a:pathLst>
              <a:path h="3021926" w="2300142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-10800000">
            <a:off x="15372969" y="5781025"/>
            <a:ext cx="3772662" cy="4956521"/>
          </a:xfrm>
          <a:custGeom>
            <a:avLst/>
            <a:gdLst/>
            <a:ahLst/>
            <a:cxnLst/>
            <a:rect r="r" b="b" t="t" l="l"/>
            <a:pathLst>
              <a:path h="4956521" w="3772662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3578304" y="3021872"/>
            <a:ext cx="6538053" cy="6538053"/>
          </a:xfrm>
          <a:custGeom>
            <a:avLst/>
            <a:gdLst/>
            <a:ahLst/>
            <a:cxnLst/>
            <a:rect r="r" b="b" t="t" l="l"/>
            <a:pathLst>
              <a:path h="6538053" w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0">
            <a:off x="1028700" y="210270"/>
            <a:ext cx="2300142" cy="3021926"/>
          </a:xfrm>
          <a:custGeom>
            <a:avLst/>
            <a:gdLst/>
            <a:ahLst/>
            <a:cxnLst/>
            <a:rect r="r" b="b" t="t" l="l"/>
            <a:pathLst>
              <a:path h="3021926" w="2300142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-10800000">
            <a:off x="-857631" y="-364188"/>
            <a:ext cx="3772662" cy="4956521"/>
          </a:xfrm>
          <a:custGeom>
            <a:avLst/>
            <a:gdLst/>
            <a:ahLst/>
            <a:cxnLst/>
            <a:rect r="r" b="b" t="t" l="l"/>
            <a:pathLst>
              <a:path h="4956521" w="3772662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4960838" y="2114073"/>
            <a:ext cx="6538053" cy="6538053"/>
          </a:xfrm>
          <a:custGeom>
            <a:avLst/>
            <a:gdLst/>
            <a:ahLst/>
            <a:cxnLst/>
            <a:rect r="r" b="b" t="t" l="l"/>
            <a:pathLst>
              <a:path h="6538053" w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7FDF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28171" y="3508526"/>
            <a:ext cx="15906515" cy="210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8676" indent="-324338" lvl="1">
              <a:lnSpc>
                <a:spcPts val="4206"/>
              </a:lnSpc>
              <a:buFont typeface="Arial"/>
              <a:buChar char="•"/>
            </a:pPr>
            <a:r>
              <a:rPr lang="en-US" sz="30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Compared total revenue generated by male and female customers</a:t>
            </a:r>
          </a:p>
          <a:p>
            <a:pPr algn="just" marL="648676" indent="-324338" lvl="1">
              <a:lnSpc>
                <a:spcPts val="4206"/>
              </a:lnSpc>
              <a:buFont typeface="Arial"/>
              <a:buChar char="•"/>
            </a:pPr>
            <a:r>
              <a:rPr lang="en-US" sz="30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Shows which gender contributes more to company revenue</a:t>
            </a:r>
          </a:p>
          <a:p>
            <a:pPr algn="just" marL="648676" indent="-324338" lvl="1">
              <a:lnSpc>
                <a:spcPts val="4206"/>
              </a:lnSpc>
              <a:buFont typeface="Arial"/>
              <a:buChar char="•"/>
            </a:pPr>
            <a:r>
              <a:rPr lang="en-US" sz="30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Useful for gender-focused marketing strategies</a:t>
            </a:r>
          </a:p>
          <a:p>
            <a:pPr algn="just">
              <a:lnSpc>
                <a:spcPts val="4206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784487" y="1828323"/>
            <a:ext cx="10921628" cy="140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Revenue by Gender</a:t>
            </a:r>
          </a:p>
        </p:txBody>
      </p:sp>
      <p:sp>
        <p:nvSpPr>
          <p:cNvPr name="Freeform 4" id="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-1916412" y="4592334"/>
            <a:ext cx="6258128" cy="6258128"/>
          </a:xfrm>
          <a:custGeom>
            <a:avLst/>
            <a:gdLst/>
            <a:ahLst/>
            <a:cxnLst/>
            <a:rect r="r" b="b" t="t" l="l"/>
            <a:pathLst>
              <a:path h="6258128" w="6258128">
                <a:moveTo>
                  <a:pt x="0" y="0"/>
                </a:moveTo>
                <a:lnTo>
                  <a:pt x="6258127" y="0"/>
                </a:lnTo>
                <a:lnTo>
                  <a:pt x="6258127" y="6258127"/>
                </a:lnTo>
                <a:lnTo>
                  <a:pt x="0" y="6258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-10800000">
            <a:off x="0" y="-364188"/>
            <a:ext cx="3772662" cy="4956521"/>
          </a:xfrm>
          <a:custGeom>
            <a:avLst/>
            <a:gdLst/>
            <a:ahLst/>
            <a:cxnLst/>
            <a:rect r="r" b="b" t="t" l="l"/>
            <a:pathLst>
              <a:path h="4956521" w="3772662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0">
            <a:off x="15370413" y="-445426"/>
            <a:ext cx="7128693" cy="7128693"/>
          </a:xfrm>
          <a:custGeom>
            <a:avLst/>
            <a:gdLst/>
            <a:ahLst/>
            <a:cxnLst/>
            <a:rect r="r" b="b" t="t" l="l"/>
            <a:pathLst>
              <a:path h="7128693" w="7128693">
                <a:moveTo>
                  <a:pt x="7128693" y="0"/>
                </a:moveTo>
                <a:lnTo>
                  <a:pt x="0" y="0"/>
                </a:lnTo>
                <a:lnTo>
                  <a:pt x="0" y="7128693"/>
                </a:lnTo>
                <a:lnTo>
                  <a:pt x="7128693" y="7128693"/>
                </a:lnTo>
                <a:lnTo>
                  <a:pt x="71286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0">
            <a:off x="15551448" y="6691720"/>
            <a:ext cx="2736552" cy="3595280"/>
          </a:xfrm>
          <a:custGeom>
            <a:avLst/>
            <a:gdLst/>
            <a:ahLst/>
            <a:cxnLst/>
            <a:rect r="r" b="b" t="t" l="l"/>
            <a:pathLst>
              <a:path h="3595280" w="2736552">
                <a:moveTo>
                  <a:pt x="2736552" y="0"/>
                </a:moveTo>
                <a:lnTo>
                  <a:pt x="0" y="0"/>
                </a:lnTo>
                <a:lnTo>
                  <a:pt x="0" y="3595280"/>
                </a:lnTo>
                <a:lnTo>
                  <a:pt x="2736552" y="3595280"/>
                </a:lnTo>
                <a:lnTo>
                  <a:pt x="273655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7FDFF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511640" y="3582539"/>
            <a:ext cx="316295" cy="316295"/>
          </a:xfrm>
          <a:custGeom>
            <a:avLst/>
            <a:gdLst/>
            <a:ahLst/>
            <a:cxnLst/>
            <a:rect r="r" b="b" t="t" l="l"/>
            <a:pathLst>
              <a:path h="316295" w="316295">
                <a:moveTo>
                  <a:pt x="0" y="0"/>
                </a:moveTo>
                <a:lnTo>
                  <a:pt x="316295" y="0"/>
                </a:lnTo>
                <a:lnTo>
                  <a:pt x="316295" y="316295"/>
                </a:lnTo>
                <a:lnTo>
                  <a:pt x="0" y="316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511640" y="6216062"/>
            <a:ext cx="316295" cy="316295"/>
          </a:xfrm>
          <a:custGeom>
            <a:avLst/>
            <a:gdLst/>
            <a:ahLst/>
            <a:cxnLst/>
            <a:rect r="r" b="b" t="t" l="l"/>
            <a:pathLst>
              <a:path h="316295" w="316295">
                <a:moveTo>
                  <a:pt x="0" y="0"/>
                </a:moveTo>
                <a:lnTo>
                  <a:pt x="316295" y="0"/>
                </a:lnTo>
                <a:lnTo>
                  <a:pt x="316295" y="316294"/>
                </a:lnTo>
                <a:lnTo>
                  <a:pt x="0" y="31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53354" y="3515864"/>
            <a:ext cx="14050489" cy="205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4995" indent="-317497" lvl="1">
              <a:lnSpc>
                <a:spcPts val="4117"/>
              </a:lnSpc>
              <a:buFont typeface="Arial"/>
              <a:buChar char="•"/>
            </a:pPr>
            <a:r>
              <a:rPr lang="en-US" sz="294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Identified customers who used discounts</a:t>
            </a:r>
          </a:p>
          <a:p>
            <a:pPr algn="just" marL="634995" indent="-317497" lvl="1">
              <a:lnSpc>
                <a:spcPts val="4117"/>
              </a:lnSpc>
              <a:buFont typeface="Arial"/>
              <a:buChar char="•"/>
            </a:pPr>
            <a:r>
              <a:rPr lang="en-US" sz="294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Focused on those who still spent more than the average purchase amount</a:t>
            </a:r>
          </a:p>
          <a:p>
            <a:pPr algn="just" marL="634995" indent="-317497" lvl="1">
              <a:lnSpc>
                <a:spcPts val="4117"/>
              </a:lnSpc>
              <a:buFont typeface="Arial"/>
              <a:buChar char="•"/>
            </a:pPr>
            <a:r>
              <a:rPr lang="en-US" sz="294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Helps understand how discounts influence high-value customers</a:t>
            </a:r>
          </a:p>
          <a:p>
            <a:pPr algn="just">
              <a:lnSpc>
                <a:spcPts val="4117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053354" y="1828323"/>
            <a:ext cx="15671441" cy="140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b="true" sz="7354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Discounts and Customer Spending</a:t>
            </a:r>
          </a:p>
        </p:txBody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1222889" y="-387411"/>
            <a:ext cx="2567706" cy="3373451"/>
          </a:xfrm>
          <a:custGeom>
            <a:avLst/>
            <a:gdLst/>
            <a:ahLst/>
            <a:cxnLst/>
            <a:rect r="r" b="b" t="t" l="l"/>
            <a:pathLst>
              <a:path h="3373451" w="2567706">
                <a:moveTo>
                  <a:pt x="0" y="3373452"/>
                </a:moveTo>
                <a:lnTo>
                  <a:pt x="2567706" y="3373452"/>
                </a:lnTo>
                <a:lnTo>
                  <a:pt x="2567706" y="0"/>
                </a:lnTo>
                <a:lnTo>
                  <a:pt x="0" y="0"/>
                </a:lnTo>
                <a:lnTo>
                  <a:pt x="0" y="33734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-10800000">
            <a:off x="-767315" y="-135036"/>
            <a:ext cx="3274057" cy="4301455"/>
          </a:xfrm>
          <a:custGeom>
            <a:avLst/>
            <a:gdLst/>
            <a:ahLst/>
            <a:cxnLst/>
            <a:rect r="r" b="b" t="t" l="l"/>
            <a:pathLst>
              <a:path h="4301455" w="3274057">
                <a:moveTo>
                  <a:pt x="3274057" y="0"/>
                </a:moveTo>
                <a:lnTo>
                  <a:pt x="0" y="0"/>
                </a:lnTo>
                <a:lnTo>
                  <a:pt x="0" y="4301455"/>
                </a:lnTo>
                <a:lnTo>
                  <a:pt x="3274057" y="4301455"/>
                </a:lnTo>
                <a:lnTo>
                  <a:pt x="32740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-10800000">
            <a:off x="14786756" y="7403374"/>
            <a:ext cx="2582789" cy="3393268"/>
          </a:xfrm>
          <a:custGeom>
            <a:avLst/>
            <a:gdLst/>
            <a:ahLst/>
            <a:cxnLst/>
            <a:rect r="r" b="b" t="t" l="l"/>
            <a:pathLst>
              <a:path h="3393268" w="2582789">
                <a:moveTo>
                  <a:pt x="0" y="3393267"/>
                </a:moveTo>
                <a:lnTo>
                  <a:pt x="2582789" y="3393267"/>
                </a:lnTo>
                <a:lnTo>
                  <a:pt x="2582789" y="0"/>
                </a:lnTo>
                <a:lnTo>
                  <a:pt x="0" y="0"/>
                </a:lnTo>
                <a:lnTo>
                  <a:pt x="0" y="339326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0">
            <a:off x="16078150" y="6216062"/>
            <a:ext cx="3293290" cy="4326723"/>
          </a:xfrm>
          <a:custGeom>
            <a:avLst/>
            <a:gdLst/>
            <a:ahLst/>
            <a:cxnLst/>
            <a:rect r="r" b="b" t="t" l="l"/>
            <a:pathLst>
              <a:path h="4326723" w="3293290">
                <a:moveTo>
                  <a:pt x="3293290" y="0"/>
                </a:moveTo>
                <a:lnTo>
                  <a:pt x="0" y="0"/>
                </a:lnTo>
                <a:lnTo>
                  <a:pt x="0" y="4326722"/>
                </a:lnTo>
                <a:lnTo>
                  <a:pt x="3293290" y="4326722"/>
                </a:lnTo>
                <a:lnTo>
                  <a:pt x="329329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7FDFF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-10800000">
            <a:off x="1086558" y="6425555"/>
            <a:ext cx="2182042" cy="2866766"/>
          </a:xfrm>
          <a:custGeom>
            <a:avLst/>
            <a:gdLst/>
            <a:ahLst/>
            <a:cxnLst/>
            <a:rect r="r" b="b" t="t" l="l"/>
            <a:pathLst>
              <a:path h="2866766" w="2182042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0">
            <a:off x="239162" y="5259319"/>
            <a:ext cx="2182042" cy="2866766"/>
          </a:xfrm>
          <a:custGeom>
            <a:avLst/>
            <a:gdLst/>
            <a:ahLst/>
            <a:cxnLst/>
            <a:rect r="r" b="b" t="t" l="l"/>
            <a:pathLst>
              <a:path h="2866766" w="2182042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-10800000">
            <a:off x="15390121" y="1822870"/>
            <a:ext cx="2182042" cy="2866766"/>
          </a:xfrm>
          <a:custGeom>
            <a:avLst/>
            <a:gdLst/>
            <a:ahLst/>
            <a:cxnLst/>
            <a:rect r="r" b="b" t="t" l="l"/>
            <a:pathLst>
              <a:path h="2866766" w="2182042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0">
            <a:off x="14542725" y="656634"/>
            <a:ext cx="2182042" cy="2866766"/>
          </a:xfrm>
          <a:custGeom>
            <a:avLst/>
            <a:gdLst/>
            <a:ahLst/>
            <a:cxnLst/>
            <a:rect r="r" b="b" t="t" l="l"/>
            <a:pathLst>
              <a:path h="2866766" w="2182042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37048" y="4632485"/>
            <a:ext cx="11613904" cy="2023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7154" indent="-313577" lvl="1">
              <a:lnSpc>
                <a:spcPts val="4066"/>
              </a:lnSpc>
              <a:buFont typeface="Arial"/>
              <a:buChar char="•"/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Analyzed average customer review ratings for products</a:t>
            </a:r>
          </a:p>
          <a:p>
            <a:pPr algn="just" marL="627154" indent="-313577" lvl="1">
              <a:lnSpc>
                <a:spcPts val="4066"/>
              </a:lnSpc>
              <a:buFont typeface="Arial"/>
              <a:buChar char="•"/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Identified top-rated products</a:t>
            </a:r>
          </a:p>
          <a:p>
            <a:pPr algn="just" marL="627154" indent="-313577" lvl="1">
              <a:lnSpc>
                <a:spcPts val="4066"/>
              </a:lnSpc>
              <a:buFont typeface="Arial"/>
              <a:buChar char="•"/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Helps improve product quality and promotions</a:t>
            </a:r>
          </a:p>
          <a:p>
            <a:pPr algn="just">
              <a:lnSpc>
                <a:spcPts val="406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169551" y="2678588"/>
            <a:ext cx="13464196" cy="140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b="true" sz="7354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Product Reviews and Ratings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7FDFF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28842" y="3288561"/>
            <a:ext cx="12219223" cy="3539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1579" indent="-435790" lvl="1">
              <a:lnSpc>
                <a:spcPts val="5651"/>
              </a:lnSpc>
              <a:buFont typeface="Arial"/>
              <a:buChar char="•"/>
            </a:pPr>
            <a:r>
              <a:rPr lang="en-US" sz="4036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Compared average spending between Standard and Express shipping users</a:t>
            </a:r>
          </a:p>
          <a:p>
            <a:pPr algn="l" marL="871579" indent="-435790" lvl="1">
              <a:lnSpc>
                <a:spcPts val="5651"/>
              </a:lnSpc>
              <a:buFont typeface="Arial"/>
              <a:buChar char="•"/>
            </a:pPr>
            <a:r>
              <a:rPr lang="en-US" sz="4036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Helps understand customer preferences</a:t>
            </a:r>
          </a:p>
          <a:p>
            <a:pPr algn="l" marL="871579" indent="-435790" lvl="1">
              <a:lnSpc>
                <a:spcPts val="5651"/>
              </a:lnSpc>
              <a:buFont typeface="Arial"/>
              <a:buChar char="•"/>
            </a:pPr>
            <a:r>
              <a:rPr lang="en-US" sz="4036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Useful for delivery and logistics planning</a:t>
            </a:r>
          </a:p>
          <a:p>
            <a:pPr algn="ctr">
              <a:lnSpc>
                <a:spcPts val="5651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04315" y="1828323"/>
            <a:ext cx="17883685" cy="140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b="true" sz="7354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Shipping Method vs Spending </a:t>
            </a:r>
          </a:p>
        </p:txBody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15548065" y="6970644"/>
            <a:ext cx="2300142" cy="3021926"/>
          </a:xfrm>
          <a:custGeom>
            <a:avLst/>
            <a:gdLst/>
            <a:ahLst/>
            <a:cxnLst/>
            <a:rect r="r" b="b" t="t" l="l"/>
            <a:pathLst>
              <a:path h="3021926" w="2300142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-10800000">
            <a:off x="15372969" y="5781025"/>
            <a:ext cx="3772662" cy="4956521"/>
          </a:xfrm>
          <a:custGeom>
            <a:avLst/>
            <a:gdLst/>
            <a:ahLst/>
            <a:cxnLst/>
            <a:rect r="r" b="b" t="t" l="l"/>
            <a:pathLst>
              <a:path h="4956521" w="3772662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-3209211" y="1721233"/>
            <a:ext cx="6538053" cy="6538053"/>
          </a:xfrm>
          <a:custGeom>
            <a:avLst/>
            <a:gdLst/>
            <a:ahLst/>
            <a:cxnLst/>
            <a:rect r="r" b="b" t="t" l="l"/>
            <a:pathLst>
              <a:path h="6538053" w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0">
            <a:off x="1028700" y="210270"/>
            <a:ext cx="2300142" cy="3021926"/>
          </a:xfrm>
          <a:custGeom>
            <a:avLst/>
            <a:gdLst/>
            <a:ahLst/>
            <a:cxnLst/>
            <a:rect r="r" b="b" t="t" l="l"/>
            <a:pathLst>
              <a:path h="3021926" w="2300142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-10800000">
            <a:off x="-857631" y="-364188"/>
            <a:ext cx="3772662" cy="4956521"/>
          </a:xfrm>
          <a:custGeom>
            <a:avLst/>
            <a:gdLst/>
            <a:ahLst/>
            <a:cxnLst/>
            <a:rect r="r" b="b" t="t" l="l"/>
            <a:pathLst>
              <a:path h="4956521" w="3772662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4960838" y="2114073"/>
            <a:ext cx="6538053" cy="6538053"/>
          </a:xfrm>
          <a:custGeom>
            <a:avLst/>
            <a:gdLst/>
            <a:ahLst/>
            <a:cxnLst/>
            <a:rect r="r" b="b" t="t" l="l"/>
            <a:pathLst>
              <a:path h="6538053" w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7FDFF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-10800000">
            <a:off x="-767315" y="-135036"/>
            <a:ext cx="3274057" cy="4301455"/>
          </a:xfrm>
          <a:custGeom>
            <a:avLst/>
            <a:gdLst/>
            <a:ahLst/>
            <a:cxnLst/>
            <a:rect r="r" b="b" t="t" l="l"/>
            <a:pathLst>
              <a:path h="4301455" w="3274057">
                <a:moveTo>
                  <a:pt x="3274057" y="0"/>
                </a:moveTo>
                <a:lnTo>
                  <a:pt x="0" y="0"/>
                </a:lnTo>
                <a:lnTo>
                  <a:pt x="0" y="4301455"/>
                </a:lnTo>
                <a:lnTo>
                  <a:pt x="3274057" y="4301455"/>
                </a:lnTo>
                <a:lnTo>
                  <a:pt x="32740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26844" y="3525389"/>
            <a:ext cx="13876999" cy="2023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7154" indent="-313577" lvl="1">
              <a:lnSpc>
                <a:spcPts val="4066"/>
              </a:lnSpc>
              <a:buFont typeface="Arial"/>
              <a:buChar char="•"/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Compared spending of subscribed and non-subscribed customers</a:t>
            </a:r>
          </a:p>
          <a:p>
            <a:pPr algn="just" marL="627154" indent="-313577" lvl="1">
              <a:lnSpc>
                <a:spcPts val="4066"/>
              </a:lnSpc>
              <a:buFont typeface="Arial"/>
              <a:buChar char="•"/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Examined average spending and total revenue contribution</a:t>
            </a:r>
          </a:p>
          <a:p>
            <a:pPr algn="just" marL="627154" indent="-313577" lvl="1">
              <a:lnSpc>
                <a:spcPts val="4066"/>
              </a:lnSpc>
              <a:buFont typeface="Arial"/>
              <a:buChar char="•"/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Shows the value of subscription programs</a:t>
            </a:r>
          </a:p>
          <a:p>
            <a:pPr algn="just">
              <a:lnSpc>
                <a:spcPts val="406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226844" y="1828323"/>
            <a:ext cx="15142701" cy="140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b="true" sz="7354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Subscription and Customer Loyalty </a:t>
            </a:r>
          </a:p>
        </p:txBody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1222889" y="-387411"/>
            <a:ext cx="2567706" cy="3373451"/>
          </a:xfrm>
          <a:custGeom>
            <a:avLst/>
            <a:gdLst/>
            <a:ahLst/>
            <a:cxnLst/>
            <a:rect r="r" b="b" t="t" l="l"/>
            <a:pathLst>
              <a:path h="3373451" w="2567706">
                <a:moveTo>
                  <a:pt x="0" y="3373452"/>
                </a:moveTo>
                <a:lnTo>
                  <a:pt x="2567706" y="3373452"/>
                </a:lnTo>
                <a:lnTo>
                  <a:pt x="2567706" y="0"/>
                </a:lnTo>
                <a:lnTo>
                  <a:pt x="0" y="0"/>
                </a:lnTo>
                <a:lnTo>
                  <a:pt x="0" y="33734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-10800000">
            <a:off x="14786756" y="7403374"/>
            <a:ext cx="2582789" cy="3393268"/>
          </a:xfrm>
          <a:custGeom>
            <a:avLst/>
            <a:gdLst/>
            <a:ahLst/>
            <a:cxnLst/>
            <a:rect r="r" b="b" t="t" l="l"/>
            <a:pathLst>
              <a:path h="3393268" w="2582789">
                <a:moveTo>
                  <a:pt x="0" y="3393267"/>
                </a:moveTo>
                <a:lnTo>
                  <a:pt x="2582789" y="3393267"/>
                </a:lnTo>
                <a:lnTo>
                  <a:pt x="2582789" y="0"/>
                </a:lnTo>
                <a:lnTo>
                  <a:pt x="0" y="0"/>
                </a:lnTo>
                <a:lnTo>
                  <a:pt x="0" y="3393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0">
            <a:off x="16078150" y="6216062"/>
            <a:ext cx="3293290" cy="4326723"/>
          </a:xfrm>
          <a:custGeom>
            <a:avLst/>
            <a:gdLst/>
            <a:ahLst/>
            <a:cxnLst/>
            <a:rect r="r" b="b" t="t" l="l"/>
            <a:pathLst>
              <a:path h="4326723" w="3293290">
                <a:moveTo>
                  <a:pt x="3293290" y="0"/>
                </a:moveTo>
                <a:lnTo>
                  <a:pt x="0" y="0"/>
                </a:lnTo>
                <a:lnTo>
                  <a:pt x="0" y="4326722"/>
                </a:lnTo>
                <a:lnTo>
                  <a:pt x="3293290" y="4326722"/>
                </a:lnTo>
                <a:lnTo>
                  <a:pt x="32932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7FDFF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-10800000">
            <a:off x="0" y="-364188"/>
            <a:ext cx="3772662" cy="4956521"/>
          </a:xfrm>
          <a:custGeom>
            <a:avLst/>
            <a:gdLst/>
            <a:ahLst/>
            <a:cxnLst/>
            <a:rect r="r" b="b" t="t" l="l"/>
            <a:pathLst>
              <a:path h="4956521" w="3772662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52400" y="68356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-270880" y="68356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-10800000">
            <a:off x="14820138" y="5705937"/>
            <a:ext cx="3772662" cy="4956521"/>
          </a:xfrm>
          <a:custGeom>
            <a:avLst/>
            <a:gdLst/>
            <a:ahLst/>
            <a:cxnLst/>
            <a:rect r="r" b="b" t="t" l="l"/>
            <a:pathLst>
              <a:path h="4956521" w="3772662">
                <a:moveTo>
                  <a:pt x="0" y="4956521"/>
                </a:moveTo>
                <a:lnTo>
                  <a:pt x="3772662" y="4956521"/>
                </a:lnTo>
                <a:lnTo>
                  <a:pt x="3772662" y="0"/>
                </a:lnTo>
                <a:lnTo>
                  <a:pt x="0" y="0"/>
                </a:lnTo>
                <a:lnTo>
                  <a:pt x="0" y="495652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19337" y="1210481"/>
            <a:ext cx="15539963" cy="903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</a:t>
            </a:r>
            <a:r>
              <a:rPr lang="en-US" b="true" sz="53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duct Discounts &amp; Customer Segmentation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86331" y="2654827"/>
            <a:ext cx="15539963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dentified products most frequently bought using discounts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Customers grouped into: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New customers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Returning customers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Loyal customers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Helps design targeted marketing campaigns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1222889" y="-387411"/>
            <a:ext cx="2567706" cy="3373451"/>
          </a:xfrm>
          <a:custGeom>
            <a:avLst/>
            <a:gdLst/>
            <a:ahLst/>
            <a:cxnLst/>
            <a:rect r="r" b="b" t="t" l="l"/>
            <a:pathLst>
              <a:path h="3373451" w="2567706">
                <a:moveTo>
                  <a:pt x="0" y="3373452"/>
                </a:moveTo>
                <a:lnTo>
                  <a:pt x="2567706" y="3373452"/>
                </a:lnTo>
                <a:lnTo>
                  <a:pt x="2567706" y="0"/>
                </a:lnTo>
                <a:lnTo>
                  <a:pt x="0" y="0"/>
                </a:lnTo>
                <a:lnTo>
                  <a:pt x="0" y="33734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-10800000">
            <a:off x="-200236" y="0"/>
            <a:ext cx="3274057" cy="4301455"/>
          </a:xfrm>
          <a:custGeom>
            <a:avLst/>
            <a:gdLst/>
            <a:ahLst/>
            <a:cxnLst/>
            <a:rect r="r" b="b" t="t" l="l"/>
            <a:pathLst>
              <a:path h="4301455" w="3274057">
                <a:moveTo>
                  <a:pt x="3274057" y="0"/>
                </a:moveTo>
                <a:lnTo>
                  <a:pt x="0" y="0"/>
                </a:lnTo>
                <a:lnTo>
                  <a:pt x="0" y="4301455"/>
                </a:lnTo>
                <a:lnTo>
                  <a:pt x="3274057" y="4301455"/>
                </a:lnTo>
                <a:lnTo>
                  <a:pt x="327405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-10800000">
            <a:off x="14786756" y="7403374"/>
            <a:ext cx="2582789" cy="3393268"/>
          </a:xfrm>
          <a:custGeom>
            <a:avLst/>
            <a:gdLst/>
            <a:ahLst/>
            <a:cxnLst/>
            <a:rect r="r" b="b" t="t" l="l"/>
            <a:pathLst>
              <a:path h="3393268" w="2582789">
                <a:moveTo>
                  <a:pt x="0" y="3393267"/>
                </a:moveTo>
                <a:lnTo>
                  <a:pt x="2582789" y="3393267"/>
                </a:lnTo>
                <a:lnTo>
                  <a:pt x="2582789" y="0"/>
                </a:lnTo>
                <a:lnTo>
                  <a:pt x="0" y="0"/>
                </a:lnTo>
                <a:lnTo>
                  <a:pt x="0" y="339326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0">
            <a:off x="16078150" y="6216062"/>
            <a:ext cx="3293290" cy="4326723"/>
          </a:xfrm>
          <a:custGeom>
            <a:avLst/>
            <a:gdLst/>
            <a:ahLst/>
            <a:cxnLst/>
            <a:rect r="r" b="b" t="t" l="l"/>
            <a:pathLst>
              <a:path h="4326723" w="3293290">
                <a:moveTo>
                  <a:pt x="3293290" y="0"/>
                </a:moveTo>
                <a:lnTo>
                  <a:pt x="0" y="0"/>
                </a:lnTo>
                <a:lnTo>
                  <a:pt x="0" y="4326722"/>
                </a:lnTo>
                <a:lnTo>
                  <a:pt x="3293290" y="4326722"/>
                </a:lnTo>
                <a:lnTo>
                  <a:pt x="32932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82368" y="1263633"/>
            <a:ext cx="992326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Business Insights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6949" y="3231200"/>
            <a:ext cx="15667561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Customer behaviour varies by gen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der, age, and subscription status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Discounts and reviews strongly influence purchasing decisions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Loyal and subscribed customers contribute higher revenue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SQL is a powerful tool for data-driven business analysis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-476399" y="2173146"/>
            <a:ext cx="5249238" cy="6896447"/>
          </a:xfrm>
          <a:custGeom>
            <a:avLst/>
            <a:gdLst/>
            <a:ahLst/>
            <a:cxnLst/>
            <a:rect r="r" b="b" t="t" l="l"/>
            <a:pathLst>
              <a:path h="6896447" w="5249238">
                <a:moveTo>
                  <a:pt x="0" y="0"/>
                </a:moveTo>
                <a:lnTo>
                  <a:pt x="5249238" y="0"/>
                </a:lnTo>
                <a:lnTo>
                  <a:pt x="5249238" y="6896447"/>
                </a:lnTo>
                <a:lnTo>
                  <a:pt x="0" y="689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-10800000">
            <a:off x="-286818" y="1217407"/>
            <a:ext cx="5208407" cy="6842803"/>
          </a:xfrm>
          <a:custGeom>
            <a:avLst/>
            <a:gdLst/>
            <a:ahLst/>
            <a:cxnLst/>
            <a:rect r="r" b="b" t="t" l="l"/>
            <a:pathLst>
              <a:path h="6842803" w="5208407">
                <a:moveTo>
                  <a:pt x="0" y="0"/>
                </a:moveTo>
                <a:lnTo>
                  <a:pt x="5208407" y="0"/>
                </a:lnTo>
                <a:lnTo>
                  <a:pt x="5208407" y="6842803"/>
                </a:lnTo>
                <a:lnTo>
                  <a:pt x="0" y="684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4921589" y="3557484"/>
            <a:ext cx="13366411" cy="3043429"/>
          </a:xfrm>
          <a:custGeom>
            <a:avLst/>
            <a:gdLst/>
            <a:ahLst/>
            <a:cxnLst/>
            <a:rect r="r" b="b" t="t" l="l"/>
            <a:pathLst>
              <a:path h="3043429" w="13366411">
                <a:moveTo>
                  <a:pt x="0" y="0"/>
                </a:moveTo>
                <a:lnTo>
                  <a:pt x="13366411" y="0"/>
                </a:lnTo>
                <a:lnTo>
                  <a:pt x="13366411" y="3043429"/>
                </a:lnTo>
                <a:lnTo>
                  <a:pt x="0" y="3043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780228" y="-659099"/>
            <a:ext cx="11605199" cy="11605199"/>
          </a:xfrm>
          <a:custGeom>
            <a:avLst/>
            <a:gdLst/>
            <a:ahLst/>
            <a:cxnLst/>
            <a:rect r="r" b="b" t="t" l="l"/>
            <a:pathLst>
              <a:path h="11605199" w="11605199">
                <a:moveTo>
                  <a:pt x="0" y="0"/>
                </a:moveTo>
                <a:lnTo>
                  <a:pt x="11605198" y="0"/>
                </a:lnTo>
                <a:lnTo>
                  <a:pt x="11605198" y="11605198"/>
                </a:lnTo>
                <a:lnTo>
                  <a:pt x="0" y="11605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15970" y="4223324"/>
            <a:ext cx="7464258" cy="182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85"/>
              </a:lnSpc>
            </a:pPr>
            <a:r>
              <a:rPr lang="en-US" sz="11866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7FDFF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DAG7LvJlYBw</dc:identifier>
  <dcterms:modified xsi:type="dcterms:W3CDTF">2011-08-01T06:04:30Z</dcterms:modified>
  <cp:revision>1</cp:revision>
  <dc:title>Tosca Black Gradient Abstract Project Presentation </dc:title>
</cp:coreProperties>
</file>